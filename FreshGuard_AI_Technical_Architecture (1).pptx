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072865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3108960" cy="347472"/>
          </a:xfrm>
          <a:prstGeom prst="roundRect">
            <a:avLst/>
          </a:prstGeom>
          <a:solidFill>
            <a:srgbClr val="102D2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TECHNICAL SPECIFICATION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FreshGuard.AI</a:t>
            </a:r>
          </a:p>
          <a:p>
            <a:pPr>
              <a:spcBef>
                <a:spcPts val="800"/>
              </a:spcBef>
              <a:defRPr sz="2200" b="1">
                <a:solidFill>
                  <a:srgbClr val="06B6D4"/>
                </a:solidFill>
                <a:latin typeface="Segoe UI"/>
              </a:defRPr>
            </a:pPr>
            <a:r>
              <a:t>Zero-Waste Perishable Demand &amp; Shelf-Life Management Platform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End-to-End System Architecture, Dynamic FEFO State Machines, and Predictive Spoilage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83280"/>
            <a:ext cx="3328416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FastAPI Microservice Engine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Sub-50ms query latency, RESTful contract schemas, asynchronous non-blocking I/O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3383280"/>
            <a:ext cx="3328416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FEFO Freshness State Machine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Continuous shelf-life degradation tracking across FRESH, EXPIRING, CRITICAL, and EXPIRED stages.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3383280"/>
            <a:ext cx="3328416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3-Pillar Decision Intelligence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  <a:latin typeface="Segoe UI"/>
              </a:defRPr>
            </a:pPr>
            <a:r>
              <a:t>Automated dynamic markdowns, predictive restocking triggers, and inter-store inventory transfers.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728655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Author: Engineering &amp; AI Architecture Team   |   Version: 1.0.0 (Production Blueprint)   |   Target: Enterprise Retail &amp; Edge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4283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SYSTEM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Architectural Drivers &amp; Technical Problem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Solving the core technical challenges of retail perishable inventory decay and shrinkage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FreshGuard.AI  |  Zero-Waste Perishable Demand &amp; Shelf-Life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Slide 2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175504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1. The Perishable Grocery Conundrum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Why traditional ERP and inventory systems fail for perishable food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Static FIFO Assumption: Legacy ERP systems treat inventory as First-In-First-Out, causing $400B+ annual grocery shrink worldwide.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Non-Linear Shelf-Life Decay: Perishables degrade non-linearly influenced by ambient temperatures, handling velocity, and supply chain delays.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Blind Spot In-Store: Store managers lack batch-level visibility into remaining days-to-expiry (DTE) vs sales velocity.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Reactive Clearance: Markdowns occur too late (at point of rot), destroying margin without recovering salvageable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2. Architectural Design Goals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Core Non-Functional and Functional Requirements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Sub-Second Reactive State: Recalculate batch degradation status instantly on query across 100K+ SKUs without blocking.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Algorithmic Action Dispatch: Automatically suggest actions (Markdown %, Restock Qty, Inter-store routing) before product loss occurs.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Store-Centric Multi-Tenancy: Enable aggregate corporate oversight while providing granular, localized telemetry for individual store managers.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Decoupled Microservice Contract: Fully decoupled RESTful core supporting Web UI, mobile POS hand-terminals, and ERP sync.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4283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SYSTEM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High-Level Layered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End-to-end 3-tier reactive pipeline from edge ingestion to action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FreshGuard.AI  |  Zero-Waste Perishable Demand &amp; Shelf-Life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Slide 3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728655" cy="1325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Layer 1: Presentation &amp; Store Operations Tier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React 18 + Vite SPA Dashboard for real-time manager telemetry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Lucide Icon dynamic telemetry &amp; KPI visualizer cards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Store Switcher &amp; Multi-dimensional filters (Status, Category, Query)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Edge Handheld Scanner / Mobile POS integration endpoints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10728655" cy="1325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Layer 2: Core Application &amp; Intelligence Engine (FastAPI)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FastAPI Asynchronous Gateway with strict Pydantic v2 schemas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Dynamic FEFO State Engine computing days_to_expiry &amp; degradation status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Risk &amp; Waste Quantification Service (Waste $ / kg at risk)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3-Pillar Recommendation Optimizer (Markdown / Restock / Transfer)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728655" cy="1325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Layer 3: Data Ingestion &amp; Storage Foundation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Pandas High-Performance in-memory batch &amp; SKU dataframe loader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Reference Temporal Anchor calibration (Demo reference date)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Relational &amp; Time-Series Data Lake (PostgreSQL / TimescaleDB Target)</a:t>
            </a:r>
          </a:p>
          <a:p>
            <a:pPr>
              <a:spcBef>
                <a:spcPts val="3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Redis In-Memory State Cache for low-latency batch freshness lookups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4283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DATA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Perishable Inventory Domain Model &amp; Schemas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Pydantic v2 data structures enabling granular batch traceability and decay vectors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FreshGuard.AI  |  Zero-Waste Perishable Demand &amp; Shelf-Life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Slide 4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175504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ProductBatchItem Entity Model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Granular physical batch tracking schema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batch_id (str): Unique identifier per shipment/lot (e.g. BATCH-001).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sku (str) &amp; name (str): Master catalog reference and perishable item label.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category (str): Produce, Dairy, Bakery, Meat, Seafood segmentation.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unit_cost (float) &amp; selling_price (float): Economic margin indicators.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ideal_storage_temp (str): Cold-chain compliance specification.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received_date &amp; expiry_date (str): Temporal bounds for shelf-life.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days_to_expiry (int): Computed dynamic delta against current clock.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freshness_status (Enum): FRESH, EXPIRING_SOON, CRITICAL, EXPIRED.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reorder_threshold (int) &amp; is_stockout_risk (bool): Stockout guardrails.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Summary Metrics &amp; Recommendation Schemas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Executive aggregation and prescriptive action vectors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SummaryMetrics Model: High-level KPI rollup aggregated per store or chain-wide: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  • total_products, total_batches, total_units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  • near_expiry_count (&lt;=3 days) &amp; critical_expiry_count (&lt;=1 day)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  • stockout_risk_count: Batches where quantity &lt; threshold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  • estimated_waste_usd &amp; estimated_waste_kg: Quantified loss impact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  • potential_revenue_at_risk_usd: Top-line exposure metric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Recommendation Action Model: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  • type: MARKDOWN | RESTOCK | TRANSFER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  • urgency: CRITICAL | HIGH | MEDIUM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  • action_detail: Specific operational instruction (e.g. Apply 40% discount)</a:t>
            </a:r>
          </a:p>
          <a:p>
            <a:pPr>
              <a:spcBef>
                <a:spcPts val="3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•   • estimated_savings_usd &amp; waste_reduction_kg: Projected ROI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4283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API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RESTful Service Contracts &amp; Endpoint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High-performance OpenAPI compliant endpoints built on FastAPI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FreshGuard.AI  |  Zero-Waste Perishable Demand &amp; Shelf-Life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Slide 5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728655" cy="777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GET /api/health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Tag: [System]  |  Description: Health check, engine version, and total records verification.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Contract Output: HealthResponse: status, count_products, count_batches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39"/>
            <a:ext cx="10728655" cy="777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GET /api/summary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Tag: [Dashboard]  |  Description: Computes instant KPI rollups with optional store-level query filter.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Contract Output: SummaryMetrics: near_expiry, waste_usd, revenue_at_risk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728655" cy="777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GET /api/products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Tag: [Inventory]  |  Description: Filtered batch inventory lookup supporting category, search, store, and status.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Contract Output: List[ProductBatchItem]: Real-time enriched batches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43400"/>
            <a:ext cx="10728655" cy="777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GET /api/recommendations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Tag: [Intelligence]  |  Description: Generates prioritized prescriptive actions for markdowns, restocking, and transfers.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Contract Output: List[Recommendation]: Sorted by financial urgency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79"/>
            <a:ext cx="10728655" cy="777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300" b="1">
                <a:solidFill>
                  <a:srgbClr val="06B6D4"/>
                </a:solidFill>
                <a:latin typeface="Segoe UI"/>
              </a:defRPr>
            </a:pPr>
            <a:r>
              <a:t>GET /api/categories &amp; /stores</a:t>
            </a:r>
          </a:p>
          <a:p>
            <a:pPr>
              <a:spcBef>
                <a:spcPts val="100"/>
              </a:spcBef>
              <a:defRPr sz="1000">
                <a:solidFill>
                  <a:srgbClr val="F8FAFC"/>
                </a:solidFill>
                <a:latin typeface="Segoe UI"/>
              </a:defRPr>
            </a:pPr>
            <a:r>
              <a:t>Tag: [Metadata]  |  Description: Fetches active taxonomies and multi-store retail geographical metadata.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Contract Output: List[str] Categories and List[Store] Location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4283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DEGRADATION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Real-Time Freshness &amp; Degradation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Deterministic state progression governing perishable shelf-life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FreshGuard.AI  |  Zero-Waste Perishable Demand &amp; Shelf-Life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Slide 6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51460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1. FRESH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DTE &gt; 3 Days</a:t>
            </a:r>
          </a:p>
          <a:p>
            <a:pPr>
              <a:spcBef>
                <a:spcPts val="1400"/>
              </a:spcBef>
              <a:defRPr sz="1100" b="1">
                <a:solidFill>
                  <a:srgbClr val="10B981"/>
                </a:solidFill>
                <a:latin typeface="Segoe UI"/>
              </a:defRPr>
            </a:pPr>
            <a:r>
              <a:t>Operational Protocol: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Nominal operational state. Full price shelf velocity. Standard FIFO/FEFO dispatch.</a:t>
            </a:r>
          </a:p>
          <a:p>
            <a:pPr>
              <a:spcBef>
                <a:spcPts val="2000"/>
              </a:spcBef>
              <a:defRPr sz="900">
                <a:solidFill>
                  <a:srgbClr val="64748B"/>
                </a:solidFill>
                <a:latin typeface="Consolas"/>
              </a:defRPr>
            </a:pPr>
            <a:r>
              <a:t>Formula Trigger:</a:t>
            </a:r>
            <a:br/>
            <a:r>
              <a:t>Days_to_Expiry = Expiry_Date - Ref_Date</a:t>
            </a:r>
            <a:br/>
            <a:r>
              <a:t>Status = evaluate_state(DTE)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37360"/>
            <a:ext cx="251460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2. EXPIRING SOON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1 &lt; DTE &lt;= 3 Days</a:t>
            </a:r>
          </a:p>
          <a:p>
            <a:pPr>
              <a:spcBef>
                <a:spcPts val="1400"/>
              </a:spcBef>
              <a:defRPr sz="1100" b="1">
                <a:solidFill>
                  <a:srgbClr val="F59E0B"/>
                </a:solidFill>
                <a:latin typeface="Segoe UI"/>
              </a:defRPr>
            </a:pPr>
            <a:r>
              <a:t>Operational Protocol: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Elevated monitoring. Trigger candidate for early 20-30% dynamic promotional markdown.</a:t>
            </a:r>
          </a:p>
          <a:p>
            <a:pPr>
              <a:spcBef>
                <a:spcPts val="2000"/>
              </a:spcBef>
              <a:defRPr sz="900">
                <a:solidFill>
                  <a:srgbClr val="64748B"/>
                </a:solidFill>
                <a:latin typeface="Consolas"/>
              </a:defRPr>
            </a:pPr>
            <a:r>
              <a:t>Formula Trigger:</a:t>
            </a:r>
            <a:br/>
            <a:r>
              <a:t>Days_to_Expiry = Expiry_Date - Ref_Date</a:t>
            </a:r>
            <a:br/>
            <a:r>
              <a:t>Status = evaluate_state(DTE)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251460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3. CRITICAL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0 &lt;= DTE &lt;= 1 Day</a:t>
            </a:r>
          </a:p>
          <a:p>
            <a:pPr>
              <a:spcBef>
                <a:spcPts val="1400"/>
              </a:spcBef>
              <a:defRPr sz="1100" b="1">
                <a:solidFill>
                  <a:srgbClr val="EF4444"/>
                </a:solidFill>
                <a:latin typeface="Segoe UI"/>
              </a:defRPr>
            </a:pPr>
            <a:r>
              <a:t>Operational Protocol: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Immediate operational intervention required. Aggressive 50% discount or rapid transfer to food bank.</a:t>
            </a:r>
          </a:p>
          <a:p>
            <a:pPr>
              <a:spcBef>
                <a:spcPts val="2000"/>
              </a:spcBef>
              <a:defRPr sz="900">
                <a:solidFill>
                  <a:srgbClr val="64748B"/>
                </a:solidFill>
                <a:latin typeface="Consolas"/>
              </a:defRPr>
            </a:pPr>
            <a:r>
              <a:t>Formula Trigger:</a:t>
            </a:r>
            <a:br/>
            <a:r>
              <a:t>Days_to_Expiry = Expiry_Date - Ref_Date</a:t>
            </a:r>
            <a:br/>
            <a:r>
              <a:t>Status = evaluate_state(DTE)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737360"/>
            <a:ext cx="2514600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4. EXPIRED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DTE &lt; 0 Days</a:t>
            </a:r>
          </a:p>
          <a:p>
            <a:pPr>
              <a:spcBef>
                <a:spcPts val="1400"/>
              </a:spcBef>
              <a:defRPr sz="1100" b="1">
                <a:solidFill>
                  <a:srgbClr val="969696"/>
                </a:solidFill>
                <a:latin typeface="Segoe UI"/>
              </a:defRPr>
            </a:pPr>
            <a:r>
              <a:t>Operational Protocol: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Terminal stage. Immediate floor removal protocol. Logged as shrinkage waste loss in kg/USD.</a:t>
            </a:r>
          </a:p>
          <a:p>
            <a:pPr>
              <a:spcBef>
                <a:spcPts val="2000"/>
              </a:spcBef>
              <a:defRPr sz="900">
                <a:solidFill>
                  <a:srgbClr val="64748B"/>
                </a:solidFill>
                <a:latin typeface="Consolas"/>
              </a:defRPr>
            </a:pPr>
            <a:r>
              <a:t>Formula Trigger:</a:t>
            </a:r>
            <a:br/>
            <a:r>
              <a:t>Days_to_Expiry = Expiry_Date - Ref_Date</a:t>
            </a:r>
            <a:br/>
            <a:r>
              <a:t>Status = evaluate_state(DTE)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4283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PREDICTIVE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Predictive Demand &amp; Spoilage Velocity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Quantifying economic exposure and spoilage risk through mathematical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FreshGuard.AI  |  Zero-Waste Perishable Demand &amp; Shelf-Life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Slide 7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175504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Mathematical Risk Formulations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Formulas executed dynamically across the batch matrix</a:t>
            </a:r>
          </a:p>
          <a:p>
            <a:pPr>
              <a:spcBef>
                <a:spcPts val="5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1. Dynamic Days to Expiration (DTE):</a:t>
            </a:r>
          </a:p>
          <a:p>
            <a:pPr>
              <a:spcBef>
                <a:spcPts val="5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    DTE = (Expiry_Date - Current_Reference_Timestamp).days</a:t>
            </a:r>
          </a:p>
          <a:p>
            <a:pPr>
              <a:spcBef>
                <a:spcPts val="5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2. Estimated Waste Economic Impact ($):</a:t>
            </a:r>
          </a:p>
          <a:p>
            <a:pPr>
              <a:spcBef>
                <a:spcPts val="5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    Waste_Cost = Quantity_Remaining × Unit_Cost</a:t>
            </a:r>
          </a:p>
          <a:p>
            <a:pPr>
              <a:spcBef>
                <a:spcPts val="5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    (Quantifies sunk capital loss if batch remains unsold)</a:t>
            </a:r>
          </a:p>
          <a:p>
            <a:pPr>
              <a:spcBef>
                <a:spcPts val="5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3. Potential Revenue at Risk ($):</a:t>
            </a:r>
          </a:p>
          <a:p>
            <a:pPr>
              <a:spcBef>
                <a:spcPts val="5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    Revenue_Risk = Quantity_Remaining × Selling_Price × Decay_Probability</a:t>
            </a:r>
          </a:p>
          <a:p>
            <a:pPr>
              <a:spcBef>
                <a:spcPts val="5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    where Decay_Probability = 1.0 if DTE &lt;= 1 else (0.5 if DTE &lt;= 3 else 0.0)</a:t>
            </a:r>
          </a:p>
          <a:p>
            <a:pPr>
              <a:spcBef>
                <a:spcPts val="5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4. Perishable Waste Mass Impact (kg):</a:t>
            </a:r>
          </a:p>
          <a:p>
            <a:pPr>
              <a:spcBef>
                <a:spcPts val="5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    Waste_Mass_kg = Quantity_Remaining × Unit_Mass_Factor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Operational Benefits &amp; Accuracy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How algorithmic quantification transforms store performance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Deterministic Prioritization: Store associates receive an objective, dollar-ranked queue of batches requiring action.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Margin Recovery: Recovers up to 60-70% of potential write-offs through timed markdown intervention.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Supplier Quality Audits: Aggregated batch decay data reveals which suppliers deliver produce with shortened effective shelf life.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Automated Shrink KPI Reporting: Real-time calculation of corporate ESG metrics (food waste kg averted) for annual compliance.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4283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DECISION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3-Pillar Prescriptive Recommendation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Converting raw decay alerts into high-confidence, actionable operational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FreshGuard.AI  |  Zero-Waste Perishable Demand &amp; Shelf-Life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Slide 8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328416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Pillar 1: Dynamic Markdown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Autonomous Prescriptive Action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Trigger: DTE &lt;= 2 days with quantity &gt; daily sell-through rate.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Action: Automatic POS barcode markdown (25% to 50% discount).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Objective: Stimulate price elasticity to clear stock before expiration.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Impact: Recovers salvage revenue vs complete inventory write-off.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737360"/>
            <a:ext cx="3328416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Pillar 2: Predictive Replenishment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Autonomous Prescriptive Action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Trigger: Batch quantity drops below computed reorder_threshold.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Action: Generates proactive restock requisition to regional DC.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Objective: Prevent stockout lost sales on high-velocity fresh items.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Impact: Eliminates empty shelf out-of-stock events on staple groceries.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737360"/>
            <a:ext cx="3328416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Pillar 3: Inter-Store Transfers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Autonomous Prescriptive Action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Trigger: Store A has surplus near-expiry stock, Store B has stockout.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Action: Dispatches inter-store transfer order within 10km radius.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Objective: Balance inventory across metro store network efficiently.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Impact: Maximizes sell-through rate without cannibalizing local margins.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4283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DATA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Data Ingestion &amp;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In-memory streaming abstraction with seamless enterprise database extensibility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FreshGuard.AI  |  Zero-Waste Perishable Demand &amp; Shelf-Life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Slide 9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175504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Current Architecture: In-Memory Engine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Ultra-fast DataFrame loader (data_loader.py)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Singleton DataLoader Pattern: Instantiated once at application startup, maintaining warm in-memory datasets.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Zero-Copy Joins: Vectorized Pandas merges joining products.csv, inventory_batches.csv, stores.csv, and sample_recommendations.csv.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Temporal Calibration: DEMO_REFERENCE_DATE anchors dynamic calculations reproducibly across environments.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Dynamic Enrichments: Computes days_to_expiry, freshness_status, and is_stockout_risk on the fly per query.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Sub-10ms Lookup: In-memory filtering guarantees instant dashboard responsiveness.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Enterprise Target: Distributed Pipeline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Cloud data lake and streaming telemetry evolution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PostgreSQL + TimescaleDB: Relational inventory tables coupled with time-series hyper-tables for batch telemetry history.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Apache Kafka / Redpanda: Streaming events from edge RFID / barcode scanners and store POS checkout counters.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Redis Memory Cache: Hot-key caching for active near-expiry items and real-time store summary rollups.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Airflow / Prefect Orchestration: Nightly model retraining pipelines for seasonal demand elasticity coefficients.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CDC (Change Data Capture): Debezium connector syncing ERP inventory deltas in real-time.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4283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CLIENT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Frontend Architecture &amp; Reactive State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Modern React 18 + Vite dashboard with responsive store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FreshGuard.AI  |  Zero-Waste Perishable Demand &amp; Shelf-Life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Slide 10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175504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Component Architecture &amp; UI Hierarchy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Modular, reusable component structure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StoreSelector: Global location switcher triggering context-level data refresh.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MetricCardsGrid: Top-level visual telemetry displaying Total Batches, Expiring Soon, Critical Alerts, and Waste ($/kg).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FilterToolbar: Multi-faceted search bar, Category dropdown, and Freshness status toggles (FRESH / CRITICAL).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InventoryBatchTable: High-density interactive batch table with color-coded freshness badges and expiration progress bars.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RecommendationsDrawer: Prioritized actionable alert cards with one-click approval workflows for discounts and reorders.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State Management &amp; Client Performance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Low overhead, reactive data synchronization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Vite Build Tooling: Instant HMR (Hot Module Replacement) and optimized tree-shaken production bundles.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Lucide React Icon System: High-clarity, lightweight SVG iconography across all system status badges.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Client-Side Debouncing: Search queries debounced at 250ms to minimize network traffic while maintaining instant typing feedback.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Optimistic UI Updates: Immediate local state updates on recommendation actions before backend confirmation.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Responsive Breakpoint Design: Seamless desktop dashboard transitioning to tablet/handheld POS views.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4283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DISTRIBUTED LOGISTICS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Multi-Store Orchestration &amp; Transfer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Graph-based inventory rebalancing across distributed supermarket chains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FreshGuard.AI  |  Zero-Waste Perishable Demand &amp; Shelf-Life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Slide 11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175504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Network Graph Formulation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Modeling grocery stores as supply-demand nodes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Node Attributes: Each store entity includes store_id, store_name, city, geo-coordinates, and daily foot-traffic velocity.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Surplus Detection: Stores exhibiting lower sales velocity with high batch volume nearing expiration are tagged as Surplus Nodes.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Deficit Detection: Nearby high-velocity stores experiencing stockout risk on identical SKUs are tagged as Deficit Nodes.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Distance Matrix Filtering: Restricts inter-store transfer proposals to local logistics thresholds (e.g. &lt; 15km) to maintain cold-chain integrity.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Economic Optimization Objective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Balancing logistics expense vs inventory preservation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Objective Function: Maximize (Recovered Margin - Logistics Transit Cost - Handling Labor).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Cold-Chain Compliance: Checks whether recipient store possesses compatible refrigeration facilities before transfer authorization.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Automated Bill of Lading: Generates transfer manifest with batch ID and source/target store manager notifications.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Regional Fleet Integration: Feeds transfer routes into morning retail distribution delivery loops.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4283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PERFORMANCE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Concurrency, Latency &amp; Performance SLAs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Architected for real-time edge processing and enterprise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FreshGuard.AI  |  Zero-Waste Perishable Demand &amp; Shelf-Life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Slide 12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51460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2800" b="1">
                <a:solidFill>
                  <a:srgbClr val="10B981"/>
                </a:solidFill>
                <a:latin typeface="Segoe UI"/>
              </a:defRPr>
            </a:pPr>
            <a:r>
              <a:t>&lt; 50 ms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API Response P95 Latency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Ensures instantaneous dashboard re-render and scanner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37360"/>
            <a:ext cx="251460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2800" b="1">
                <a:solidFill>
                  <a:srgbClr val="06B6D4"/>
                </a:solidFill>
                <a:latin typeface="Segoe UI"/>
              </a:defRPr>
            </a:pPr>
            <a:r>
              <a:t>5,000+ RPS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Throughput Concurrency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Async Uvicorn event loop handling high-frequency POS polling.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251460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2800" b="1">
                <a:solidFill>
                  <a:srgbClr val="F59E0B"/>
                </a:solidFill>
                <a:latin typeface="Segoe UI"/>
              </a:defRPr>
            </a:pPr>
            <a:r>
              <a:t>100% In-Memory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Vectorized Aggregations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Zero disk I/O bottlenecks during peak retail trading hours.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737360"/>
            <a:ext cx="2514600" cy="19202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2800" b="1">
                <a:solidFill>
                  <a:srgbClr val="A855F7"/>
                </a:solidFill>
                <a:latin typeface="Segoe UI"/>
              </a:defRPr>
            </a:pPr>
            <a:r>
              <a:t>99.95%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System Availability SLA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Stateless API architecture enabling zero-downtime rolling deploys.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728655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Key Performance Optimization Strategies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Engineering tactics enabling extreme responsiveness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Asynchronous Non-Blocking Execution: FastAPI routes built on Python's asyncio prevent thread starvation under concurrent store requests.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Vectorized DataFrame Calculations: Pandas vectorized operations perform expiration arithmetic across 50,000 batches in &lt; 8ms.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Stateless Horizontal Scaling: Microservice instances contain no session state, allowing seamless container auto-scaling under load.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Payload Minimization: Selective field serialization ensures network payloads remain lightweight (&lt; 25KB per view).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4283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Enterprise Security &amp; Data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Protecting retail operational integrity, financial metrics, and access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FreshGuard.AI  |  Zero-Waste Perishable Demand &amp; Shelf-Life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Slide 13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175504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Role-Based Access Control (RBAC)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Hierarchical authorization matrix across store operations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Store Associate / Floor Staff: Read-only access to batch expiry dates, shelf locations, and markdown barcode printing.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Store Manager: Authorization to approve recommended price markdowns, initiate inter-store transfers, and adjust safety thresholds.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Regional Supply Chain Director: Full visibility across all regional stores, transfer network topology, and supplier waste scores.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System Admin / Auditor: Complete audit trail inspection, API key management, and data pipeline governance.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Data Governance &amp; Network Security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Hardened infrastructure and compliance standards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CORS Configuration: Strict whitelist origin headers preventing unauthorized cross-site request attacks.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Immutable Audit Logs: Every markdown approval and inventory write-off is logged with timestamp, user ID, and financial delta.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Food Safety Compliance: Traceability logs support regulatory recall investigations (e.g. FDA FSMA Section 204 batch traceability).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TLS 1.3 Encryption: All communications between edge scanners, store POS terminals, and cloud APIs encrypted in transit.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4283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DEVOPS &amp;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Testing, Quality Assurance &amp; CI/CD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Rigorous verification ensuring 100% computational accuracy of shelf-life algorithms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FreshGuard.AI  |  Zero-Waste Perishable Demand &amp; Shelf-Life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Slide 14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175504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Automated Test Suite (Pytest &amp; HTTPX)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Multi-layer verification strategy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Unit Tests: Validates mathematical correctness of DTE subtraction, waste dollar calculations, and threshold evaluations.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State Machine Boundary Tests: Tests leap-year edge cases, negative DTE expired transitions, and boundary status flips.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Integration Tests (TestClient): Verifies all FastAPI endpoints (/api/health, /api/summary, /api/products, etc.) return HTTP 200 with valid JSON.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Mocking Fixtures: Simulated CSV datasets enable rapid, repeatable test runs without disk side effects.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1737360"/>
            <a:ext cx="5175504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CI/CD &amp; Deployment Blueprint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Continuous delivery to cloud and edge environments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GitHub Actions Pipeline: Automated linting (Ruff/Flake8), type checks (Mypy), and Pytest execution on every pull request.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Docker Containerization: Lightweight Alpine/Slim Python multi-stage Docker builds minimizing image size (&lt; 120MB).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Kubernetes / Cloud Run Deployment: Horizontal Pod Autoscaler (HPA) dynamically scaling instances based on CPU and request queue depth.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Edge Synchronization: In-store offline-first cache with automatic syncing when store connectivity is restored.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4283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Segoe UI"/>
              </a:defRPr>
            </a:pPr>
            <a:r>
              <a:t>STRATEGIC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Engineering Roadmap &amp; Evolution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686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Phased delivery plan from MVP foundation to autonomous zero-waste enterprise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FreshGuard.AI  |  Zero-Waste Perishable Demand &amp; Shelf-Life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31375" y="6355080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Segoe UI"/>
              </a:defRPr>
            </a:pPr>
            <a:r>
              <a:t>Slide 15 of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328416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Milestone 1: Foundation (COMPLETED)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Phase Overview &amp; Deliverables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FastAPI reactive microservice backend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In-memory dynamic FEFO degradation engine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Pydantic v2 schemas and validation models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Multi-store sample dataset &amp; KPI rollup endpoints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React 18 dashboard foundation with Vite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737360"/>
            <a:ext cx="3328416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Milestone 2: Telemetry &amp; Vision (NEXT)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Phase Overview &amp; Deliverables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IoT Cold-Chain Bluetooth temperature/humidity sensors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Computer Vision edge ripeness detection on produce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PostgreSQL / TimescaleDB production migration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Dynamic price elasticity curve integration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Mobile handheld scanner PWA 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737360"/>
            <a:ext cx="3328416" cy="4297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defRPr sz="1400" b="1">
                <a:solidFill>
                  <a:srgbClr val="F8FAFC"/>
                </a:solidFill>
                <a:latin typeface="Segoe UI"/>
              </a:defRPr>
            </a:pPr>
            <a:r>
              <a:t>Milestone 3: Autonomous AI (VISION)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Phase Overview &amp; Deliverables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Reinforcement Learning for autonomous markdown discounting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Bi-directional ERP connectors (SAP, Oracle, NetSuite)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Automated ESL (Electronic Shelf Label) IoT price sync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Federated chain-wide demand forecasting networks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  <a:latin typeface="Segoe UI"/>
              </a:defRPr>
            </a:pPr>
            <a:r>
              <a:t>• Food bank donation automated routing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